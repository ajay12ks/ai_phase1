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62" r:id="rId5"/>
    <p:sldId id="259" r:id="rId6"/>
    <p:sldId id="260" r:id="rId7"/>
    <p:sldId id="265" r:id="rId8"/>
    <p:sldId id="266" r:id="rId9"/>
    <p:sldId id="264" r:id="rId10"/>
    <p:sldId id="261"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A28945E2-A852-4518-A06C-E35396FB5848}"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256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2001754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3273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B65055-8555-4BA5-BB57-325BB53B26A4}"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3020439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B65055-8555-4BA5-BB57-325BB53B26A4}" type="datetimeFigureOut">
              <a:rPr lang="en-IN" smtClean="0"/>
              <a:t>27-09-2023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8945E2-A852-4518-A06C-E35396FB5848}"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1538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B65055-8555-4BA5-BB57-325BB53B26A4}" type="datetimeFigureOut">
              <a:rPr lang="en-IN" smtClean="0"/>
              <a:t>27-09-2023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8945E2-A852-4518-A06C-E35396FB5848}"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5756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B65055-8555-4BA5-BB57-325BB53B26A4}" type="datetimeFigureOut">
              <a:rPr lang="en-IN" smtClean="0"/>
              <a:t>27-09-2023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280643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65055-8555-4BA5-BB57-325BB53B26A4}"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8945E2-A852-4518-A06C-E35396FB5848}"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539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65055-8555-4BA5-BB57-325BB53B26A4}"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1415358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B65055-8555-4BA5-BB57-325BB53B26A4}" type="datetimeFigureOut">
              <a:rPr lang="en-IN" smtClean="0"/>
              <a:t>27-09-2023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351115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9777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179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spTree>
    <p:extLst>
      <p:ext uri="{BB962C8B-B14F-4D97-AF65-F5344CB8AC3E}">
        <p14:creationId xmlns:p14="http://schemas.microsoft.com/office/powerpoint/2010/main" val="12189936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6276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2675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5654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B65055-8555-4BA5-BB57-325BB53B26A4}" type="datetimeFigureOut">
              <a:rPr lang="en-IN" smtClean="0"/>
              <a:t>27-09-2023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8945E2-A852-4518-A06C-E35396FB5848}"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7135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B65055-8555-4BA5-BB57-325BB53B26A4}" type="datetimeFigureOut">
              <a:rPr lang="en-IN" smtClean="0"/>
              <a:t>27-09-2023</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28945E2-A852-4518-A06C-E35396FB5848}" type="slidenum">
              <a:rPr lang="en-IN" smtClean="0"/>
              <a:t>‹#›</a:t>
            </a:fld>
            <a:endParaRPr lang="en-IN"/>
          </a:p>
        </p:txBody>
      </p:sp>
    </p:spTree>
    <p:extLst>
      <p:ext uri="{BB962C8B-B14F-4D97-AF65-F5344CB8AC3E}">
        <p14:creationId xmlns:p14="http://schemas.microsoft.com/office/powerpoint/2010/main" val="213962649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BDE593-AFE5-F0D5-5D0C-D761DBC9B69A}"/>
              </a:ext>
            </a:extLst>
          </p:cNvPr>
          <p:cNvSpPr txBox="1"/>
          <p:nvPr/>
        </p:nvSpPr>
        <p:spPr>
          <a:xfrm>
            <a:off x="2968487" y="1749288"/>
            <a:ext cx="6255026" cy="1323439"/>
          </a:xfrm>
          <a:prstGeom prst="rect">
            <a:avLst/>
          </a:prstGeom>
          <a:noFill/>
        </p:spPr>
        <p:txBody>
          <a:bodyPr wrap="square" rtlCol="0">
            <a:spAutoFit/>
          </a:bodyPr>
          <a:lstStyle/>
          <a:p>
            <a:pPr algn="ctr"/>
            <a:r>
              <a:rPr lang="en-US" sz="4000" dirty="0">
                <a:latin typeface="Algerian" panose="04020705040A02060702" pitchFamily="82" charset="0"/>
              </a:rPr>
              <a:t>AI-BASED DIABETES PREDICTION SYSTEM</a:t>
            </a:r>
            <a:endParaRPr lang="en-IN" sz="4000" dirty="0">
              <a:latin typeface="Algerian" panose="04020705040A02060702" pitchFamily="82" charset="0"/>
            </a:endParaRPr>
          </a:p>
        </p:txBody>
      </p:sp>
      <p:sp>
        <p:nvSpPr>
          <p:cNvPr id="5" name="TextBox 4">
            <a:extLst>
              <a:ext uri="{FF2B5EF4-FFF2-40B4-BE49-F238E27FC236}">
                <a16:creationId xmlns:a16="http://schemas.microsoft.com/office/drawing/2014/main" id="{C9270B3B-3A06-EFC8-E793-8267D2A480FD}"/>
              </a:ext>
            </a:extLst>
          </p:cNvPr>
          <p:cNvSpPr txBox="1"/>
          <p:nvPr/>
        </p:nvSpPr>
        <p:spPr>
          <a:xfrm>
            <a:off x="2968487" y="3516917"/>
            <a:ext cx="6255026" cy="1754326"/>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SUBMITTED BY</a:t>
            </a:r>
          </a:p>
          <a:p>
            <a:pPr algn="ctr"/>
            <a:r>
              <a:rPr lang="en-US" b="1" dirty="0"/>
              <a:t> </a:t>
            </a:r>
          </a:p>
          <a:p>
            <a:pPr algn="ctr"/>
            <a:r>
              <a:rPr lang="en-US" dirty="0">
                <a:latin typeface="Arial" panose="020B0604020202020204" pitchFamily="34" charset="0"/>
                <a:cs typeface="Arial" panose="020B0604020202020204" pitchFamily="34" charset="0"/>
              </a:rPr>
              <a:t>AJAY S - 710021106001</a:t>
            </a:r>
          </a:p>
          <a:p>
            <a:pPr algn="ctr"/>
            <a:r>
              <a:rPr lang="en-US" dirty="0">
                <a:latin typeface="Arial" panose="020B0604020202020204" pitchFamily="34" charset="0"/>
                <a:cs typeface="Arial" panose="020B0604020202020204" pitchFamily="34" charset="0"/>
              </a:rPr>
              <a:t>DEPARTMENT  OF ELECTRONICS AND COMMUNICATION ENGINEERING</a:t>
            </a:r>
          </a:p>
          <a:p>
            <a:pPr algn="ctr"/>
            <a:r>
              <a:rPr lang="en-US" dirty="0">
                <a:latin typeface="Arial" panose="020B0604020202020204" pitchFamily="34" charset="0"/>
                <a:cs typeface="Arial" panose="020B0604020202020204" pitchFamily="34" charset="0"/>
              </a:rPr>
              <a:t>ANNA UNIVERSITY REGIONAL CAMPUS COIMBATORE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7797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B0BA54-C26D-D360-6AE5-2A4F2EEC98B2}"/>
              </a:ext>
            </a:extLst>
          </p:cNvPr>
          <p:cNvSpPr txBox="1"/>
          <p:nvPr/>
        </p:nvSpPr>
        <p:spPr>
          <a:xfrm>
            <a:off x="3985705" y="803896"/>
            <a:ext cx="4220579" cy="523220"/>
          </a:xfrm>
          <a:prstGeom prst="rect">
            <a:avLst/>
          </a:prstGeom>
          <a:noFill/>
        </p:spPr>
        <p:txBody>
          <a:bodyPr wrap="none" rtlCol="0">
            <a:spAutoFit/>
          </a:bodyPr>
          <a:lstStyle/>
          <a:p>
            <a:r>
              <a:rPr lang="en-US" sz="2800" b="1" dirty="0">
                <a:latin typeface="Arial" panose="020B0604020202020204" pitchFamily="34" charset="0"/>
                <a:cs typeface="Arial" panose="020B0604020202020204" pitchFamily="34" charset="0"/>
              </a:rPr>
              <a:t>PROBLEM STATEMENT</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527753E-75C4-EBB6-59B8-FDBB96280C88}"/>
              </a:ext>
            </a:extLst>
          </p:cNvPr>
          <p:cNvSpPr txBox="1"/>
          <p:nvPr/>
        </p:nvSpPr>
        <p:spPr>
          <a:xfrm>
            <a:off x="1987819" y="1780617"/>
            <a:ext cx="8216349" cy="4801314"/>
          </a:xfrm>
          <a:prstGeom prst="rect">
            <a:avLst/>
          </a:prstGeom>
          <a:noFill/>
        </p:spPr>
        <p:txBody>
          <a:bodyPr wrap="square" rtlCol="0">
            <a:spAutoFit/>
          </a:bodyPr>
          <a:lstStyle/>
          <a:p>
            <a:pPr marL="342900" indent="-342900" algn="just">
              <a:buFont typeface="Wingdings" panose="05000000000000000000" pitchFamily="2" charset="2"/>
              <a:buChar char="Ø"/>
            </a:pPr>
            <a:r>
              <a:rPr lang="en-IN" kern="100" dirty="0">
                <a:effectLst/>
                <a:latin typeface="Arial" panose="020B0604020202020204" pitchFamily="34" charset="0"/>
                <a:ea typeface="Calibri" panose="020F0502020204030204" pitchFamily="34" charset="0"/>
                <a:cs typeface="Arial" panose="020B0604020202020204" pitchFamily="34" charset="0"/>
              </a:rPr>
              <a:t>The problem we aim to address is the early prediction of diabetes using Artificial Intelligence (AI) to improve healthcare outcomes. Diabetes is a widespread chronic disease with severe health implications, and early detection is crucial for effective management and prevention of complications. </a:t>
            </a:r>
          </a:p>
          <a:p>
            <a:pPr marL="285750" indent="-285750" algn="just">
              <a:buFont typeface="Wingdings" panose="05000000000000000000" pitchFamily="2" charset="2"/>
              <a:buChar char="Ø"/>
            </a:pP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Font typeface="Wingdings" panose="05000000000000000000" pitchFamily="2" charset="2"/>
              <a:buChar char="Ø"/>
            </a:pPr>
            <a:r>
              <a:rPr lang="en-IN" kern="100" dirty="0">
                <a:effectLst/>
                <a:latin typeface="Arial" panose="020B0604020202020204" pitchFamily="34" charset="0"/>
                <a:ea typeface="Calibri" panose="020F0502020204030204" pitchFamily="34" charset="0"/>
                <a:cs typeface="Arial" panose="020B0604020202020204" pitchFamily="34" charset="0"/>
              </a:rPr>
              <a:t>The AI-based diabetes prediction system is a cutting-edge application of artificial intelligence and machine learning techniques aimed at early detection and management of diabetes. This system leverages data from various sources, including medical records, wearable devices, and lifestyle information, to provide accurate predictions of an individual's risk of developing diabetes. By identifying at-risk individuals and offering personalized recommendations, the system can help in preventing or managing diabetes effectively. This abstract outlines the key components and design thinking behind this innovative solution.</a:t>
            </a:r>
          </a:p>
          <a:p>
            <a:pPr marL="342900" indent="-342900" algn="just">
              <a:buFont typeface="Wingdings" panose="05000000000000000000" pitchFamily="2" charset="2"/>
              <a:buChar char="Ø"/>
            </a:pP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marL="342900" indent="-342900" algn="just">
              <a:buFont typeface="Wingdings" panose="05000000000000000000" pitchFamily="2" charset="2"/>
              <a:buChar char="Ø"/>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3953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34C04A-A02D-6FE3-21D6-BC83E6E61CE9}"/>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809B378-8F82-38A2-162B-496DF56EAF7B}"/>
              </a:ext>
            </a:extLst>
          </p:cNvPr>
          <p:cNvSpPr txBox="1"/>
          <p:nvPr/>
        </p:nvSpPr>
        <p:spPr>
          <a:xfrm>
            <a:off x="1484243" y="1716397"/>
            <a:ext cx="9223513" cy="3547446"/>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1. Empathize:</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Understand the target audience: Identify the stakeholders, such as patients, healthcare providers, and researchers.</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Conduct interviews and surveys to gather insights about their needs and challenges related to diabetes prediction.</a:t>
            </a: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2. Define</a:t>
            </a:r>
            <a:r>
              <a:rPr lang="en-IN" sz="1800" kern="100" dirty="0">
                <a:effectLst/>
                <a:latin typeface="Arial" panose="020B0604020202020204" pitchFamily="34" charset="0"/>
                <a:ea typeface="Calibri" panose="020F0502020204030204" pitchFamily="34" charset="0"/>
                <a:cs typeface="Arial" panose="020B0604020202020204" pitchFamily="34" charset="0"/>
              </a:rPr>
              <a:t>:</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Define the problem: Clearly articulate the problem of late diabetes diagnosis and its consequences.</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Establish project goals: Aim to create an AI-based system that can predict diabetes risk accurately and early.</a:t>
            </a:r>
          </a:p>
        </p:txBody>
      </p:sp>
    </p:spTree>
    <p:extLst>
      <p:ext uri="{BB962C8B-B14F-4D97-AF65-F5344CB8AC3E}">
        <p14:creationId xmlns:p14="http://schemas.microsoft.com/office/powerpoint/2010/main" val="256182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E3104A-7BD3-890C-4FAA-CE4F6F8D681B}"/>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257D243-515A-4149-0E41-17585D11360E}"/>
              </a:ext>
            </a:extLst>
          </p:cNvPr>
          <p:cNvSpPr txBox="1"/>
          <p:nvPr/>
        </p:nvSpPr>
        <p:spPr>
          <a:xfrm>
            <a:off x="1484243" y="1716397"/>
            <a:ext cx="9223513" cy="4251100"/>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3.Ideate:</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Brainstorm solutions: Explore various AI technologies and data sources for diabetes prediction.</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Collaborate with experts: Engage with healthcare professionals, data scientists, and AI specialists to generate ideas.</a:t>
            </a: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4. Prototype:</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Create a system architecture: Develop a diagram illustrating the components of the AI-based diabetes prediction system.</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Design data pipelines: Plan how data will be collected, </a:t>
            </a:r>
            <a:r>
              <a:rPr lang="en-IN" kern="100" dirty="0" err="1">
                <a:effectLst/>
                <a:latin typeface="Arial" panose="020B0604020202020204" pitchFamily="34" charset="0"/>
                <a:ea typeface="Calibri" panose="020F0502020204030204" pitchFamily="34" charset="0"/>
                <a:cs typeface="Arial" panose="020B0604020202020204" pitchFamily="34" charset="0"/>
              </a:rPr>
              <a:t>preprocessed</a:t>
            </a:r>
            <a:r>
              <a:rPr lang="en-IN" kern="100" dirty="0">
                <a:effectLst/>
                <a:latin typeface="Arial" panose="020B0604020202020204" pitchFamily="34" charset="0"/>
                <a:ea typeface="Calibri" panose="020F0502020204030204" pitchFamily="34" charset="0"/>
                <a:cs typeface="Arial" panose="020B0604020202020204" pitchFamily="34" charset="0"/>
              </a:rPr>
              <a:t>, and fed into the AI model.</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Develop a user interface: Design a user-friendly interface for inputting patient data and viewing predictions.</a:t>
            </a:r>
          </a:p>
        </p:txBody>
      </p:sp>
    </p:spTree>
    <p:extLst>
      <p:ext uri="{BB962C8B-B14F-4D97-AF65-F5344CB8AC3E}">
        <p14:creationId xmlns:p14="http://schemas.microsoft.com/office/powerpoint/2010/main" val="1341398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A39D53-7EDB-9A5B-2158-FFC42E3D8A88}"/>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75F1026-E115-D5A9-DB20-3768E8AA145A}"/>
              </a:ext>
            </a:extLst>
          </p:cNvPr>
          <p:cNvSpPr txBox="1"/>
          <p:nvPr/>
        </p:nvSpPr>
        <p:spPr>
          <a:xfrm>
            <a:off x="1484243" y="1716397"/>
            <a:ext cx="9223513" cy="3946401"/>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5. Test:</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 Collect and prepare data: Gather a diverse dataset containing relevant features such as patient demographics, medical history, and lifestyle factors.</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Train and fine-tune the AI model: Implement machine learning algorithms and test their performance with cross-validation.</a:t>
            </a:r>
          </a:p>
          <a:p>
            <a:pPr marL="1257300" lvl="2" indent="-34290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Validate with real-world data: Evaluate the system using data from actual patients and assess its accuracy.</a:t>
            </a: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6. Implement:</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 Develop a functional prototype of the AI-based diabetes prediction system.</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Integrate it into healthcare facilities or make it accessible to patients through a secure platform.</a:t>
            </a:r>
          </a:p>
        </p:txBody>
      </p:sp>
    </p:spTree>
    <p:extLst>
      <p:ext uri="{BB962C8B-B14F-4D97-AF65-F5344CB8AC3E}">
        <p14:creationId xmlns:p14="http://schemas.microsoft.com/office/powerpoint/2010/main" val="2141488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18032A-DFB1-B019-1421-000F8FCAA37C}"/>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C93FB8F-12FA-950F-DF13-3B206D70F291}"/>
              </a:ext>
            </a:extLst>
          </p:cNvPr>
          <p:cNvSpPr txBox="1"/>
          <p:nvPr/>
        </p:nvSpPr>
        <p:spPr>
          <a:xfrm>
            <a:off x="1590261" y="2143321"/>
            <a:ext cx="9223513" cy="3510833"/>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7.Data Integration:</a:t>
            </a: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Establish data pipelines to collect and preprocess data from various sources, ensuring data privacy and security.</a:t>
            </a:r>
          </a:p>
          <a:p>
            <a:pPr marL="1657350" lvl="3" indent="-285750">
              <a:buFont typeface="Arial" panose="020B0604020202020204" pitchFamily="34" charset="0"/>
              <a:buChar char="•"/>
            </a:pPr>
            <a:r>
              <a:rPr lang="en-IN" dirty="0">
                <a:effectLst/>
                <a:latin typeface="Arial" panose="020B0604020202020204" pitchFamily="34" charset="0"/>
                <a:ea typeface="Calibri" panose="020F0502020204030204" pitchFamily="34" charset="0"/>
                <a:cs typeface="Arial" panose="020B0604020202020204" pitchFamily="34" charset="0"/>
              </a:rPr>
              <a:t>Implement data cleansing and feature engineering techniques.</a:t>
            </a:r>
          </a:p>
          <a:p>
            <a:endParaRPr lang="en-IN" kern="100"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8.Model Training and Validation:</a:t>
            </a: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Train machine learning models using historical data and validate their performance using cross-validation techniques.</a:t>
            </a: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Continuously update and retrain models to improve accuracy.</a:t>
            </a:r>
          </a:p>
          <a:p>
            <a:endParaRPr lang="en-IN"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0031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18032A-DFB1-B019-1421-000F8FCAA37C}"/>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C93FB8F-12FA-950F-DF13-3B206D70F291}"/>
              </a:ext>
            </a:extLst>
          </p:cNvPr>
          <p:cNvSpPr txBox="1"/>
          <p:nvPr/>
        </p:nvSpPr>
        <p:spPr>
          <a:xfrm>
            <a:off x="1484243" y="1833832"/>
            <a:ext cx="9223513" cy="3929153"/>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9.User Interface:</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Design a user-friendly interface for the prediction system, accessible via web or mobile applications.</a:t>
            </a: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Ensure that users can easily input data and receive personalized recommendations.</a:t>
            </a:r>
          </a:p>
          <a:p>
            <a:pPr>
              <a:lnSpc>
                <a:spcPct val="107000"/>
              </a:lnSpc>
              <a:spcAft>
                <a:spcPts val="800"/>
              </a:spcAft>
            </a:pPr>
            <a:endParaRPr lang="en-IN" sz="1800" b="1" kern="1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10.Deployment and Monitoring:</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1657350" lvl="3"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Deploy the AI system in a healthcare setting, ensuring compliance with relevant regulations and standards.</a:t>
            </a:r>
          </a:p>
          <a:p>
            <a:pPr marL="1657350" lvl="3" indent="-285750">
              <a:buFont typeface="Arial" panose="020B0604020202020204" pitchFamily="34" charset="0"/>
              <a:buChar char="•"/>
            </a:pPr>
            <a:r>
              <a:rPr lang="en-IN" dirty="0">
                <a:effectLst/>
                <a:latin typeface="Arial" panose="020B0604020202020204" pitchFamily="34" charset="0"/>
                <a:ea typeface="Calibri" panose="020F0502020204030204" pitchFamily="34" charset="0"/>
                <a:cs typeface="Arial" panose="020B0604020202020204" pitchFamily="34" charset="0"/>
              </a:rPr>
              <a:t>Implement monitoring and feedback loops to track the system's performance and user outcomes.</a:t>
            </a:r>
            <a:endParaRPr lang="en-IN"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9779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18032A-DFB1-B019-1421-000F8FCAA37C}"/>
              </a:ext>
            </a:extLst>
          </p:cNvPr>
          <p:cNvSpPr txBox="1"/>
          <p:nvPr/>
        </p:nvSpPr>
        <p:spPr>
          <a:xfrm>
            <a:off x="2663687" y="795132"/>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DESIGN THINKING APPROACH</a:t>
            </a:r>
            <a:endParaRPr lang="en-IN" sz="28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C93FB8F-12FA-950F-DF13-3B206D70F291}"/>
              </a:ext>
            </a:extLst>
          </p:cNvPr>
          <p:cNvSpPr txBox="1"/>
          <p:nvPr/>
        </p:nvSpPr>
        <p:spPr>
          <a:xfrm>
            <a:off x="1484243" y="1735357"/>
            <a:ext cx="9223513" cy="3353675"/>
          </a:xfrm>
          <a:prstGeom prst="rect">
            <a:avLst/>
          </a:prstGeom>
          <a:noFill/>
        </p:spPr>
        <p:txBody>
          <a:bodyPr wrap="square" rtlCol="0">
            <a:spAutoFit/>
          </a:bodyPr>
          <a:lstStyle/>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11.Evaluation:</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 Continuously evaluate the system's effectiveness in predicting diabetes and improving patient outcomes.</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Measure the impact on healthcare costs and patient well-being.</a:t>
            </a:r>
          </a:p>
          <a:p>
            <a:pPr>
              <a:lnSpc>
                <a:spcPct val="107000"/>
              </a:lnSpc>
              <a:spcAft>
                <a:spcPts val="800"/>
              </a:spcAft>
            </a:pPr>
            <a:endParaRPr lang="en-IN" sz="1800" b="1" kern="1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800" b="1" kern="100" dirty="0">
                <a:effectLst/>
                <a:latin typeface="Arial" panose="020B0604020202020204" pitchFamily="34" charset="0"/>
                <a:ea typeface="Calibri" panose="020F0502020204030204" pitchFamily="34" charset="0"/>
                <a:cs typeface="Arial" panose="020B0604020202020204" pitchFamily="34" charset="0"/>
              </a:rPr>
              <a:t>12.Feedback and Improvement:</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 Gather feedback from users and healthcare providers to make continuous improvements to the system.</a:t>
            </a:r>
          </a:p>
          <a:p>
            <a:pPr marL="1200150" lvl="2" indent="-285750">
              <a:lnSpc>
                <a:spcPct val="107000"/>
              </a:lnSpc>
              <a:spcAft>
                <a:spcPts val="800"/>
              </a:spcAft>
              <a:buFont typeface="Arial" panose="020B0604020202020204" pitchFamily="34" charset="0"/>
              <a:buChar char="•"/>
            </a:pPr>
            <a:r>
              <a:rPr lang="en-IN" kern="100" dirty="0">
                <a:effectLst/>
                <a:latin typeface="Arial" panose="020B0604020202020204" pitchFamily="34" charset="0"/>
                <a:ea typeface="Calibri" panose="020F0502020204030204" pitchFamily="34" charset="0"/>
                <a:cs typeface="Arial" panose="020B0604020202020204" pitchFamily="34" charset="0"/>
              </a:rPr>
              <a:t>Adapt to evolving medical knowledge and technological advancements in AI.</a:t>
            </a:r>
          </a:p>
        </p:txBody>
      </p:sp>
    </p:spTree>
    <p:extLst>
      <p:ext uri="{BB962C8B-B14F-4D97-AF65-F5344CB8AC3E}">
        <p14:creationId xmlns:p14="http://schemas.microsoft.com/office/powerpoint/2010/main" val="348357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61B368-6860-9FB6-DF19-996781BEC8B9}"/>
              </a:ext>
            </a:extLst>
          </p:cNvPr>
          <p:cNvSpPr txBox="1"/>
          <p:nvPr/>
        </p:nvSpPr>
        <p:spPr>
          <a:xfrm>
            <a:off x="2663686" y="898984"/>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SYSTEM ARCHITECTURE</a:t>
            </a:r>
            <a:endParaRPr lang="en-IN" sz="28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D81C5B7-6F87-E337-25EC-4D468B8C86A5}"/>
              </a:ext>
            </a:extLst>
          </p:cNvPr>
          <p:cNvPicPr>
            <a:picLocks noChangeAspect="1"/>
          </p:cNvPicPr>
          <p:nvPr/>
        </p:nvPicPr>
        <p:blipFill rotWithShape="1">
          <a:blip r:embed="rId2">
            <a:extLst>
              <a:ext uri="{28A0092B-C50C-407E-A947-70E740481C1C}">
                <a14:useLocalDpi xmlns:a14="http://schemas.microsoft.com/office/drawing/2010/main" val="0"/>
              </a:ext>
            </a:extLst>
          </a:blip>
          <a:srcRect l="24080" t="3097" r="30863" b="1884"/>
          <a:stretch/>
        </p:blipFill>
        <p:spPr>
          <a:xfrm>
            <a:off x="3803374" y="1577007"/>
            <a:ext cx="4585252" cy="4585253"/>
          </a:xfrm>
          <a:prstGeom prst="rect">
            <a:avLst/>
          </a:prstGeom>
        </p:spPr>
      </p:pic>
      <p:sp>
        <p:nvSpPr>
          <p:cNvPr id="7" name="TextBox 6">
            <a:extLst>
              <a:ext uri="{FF2B5EF4-FFF2-40B4-BE49-F238E27FC236}">
                <a16:creationId xmlns:a16="http://schemas.microsoft.com/office/drawing/2014/main" id="{1DBD3176-8A33-86AD-A8C1-8B14D61622BB}"/>
              </a:ext>
            </a:extLst>
          </p:cNvPr>
          <p:cNvSpPr txBox="1"/>
          <p:nvPr/>
        </p:nvSpPr>
        <p:spPr>
          <a:xfrm>
            <a:off x="5155095" y="2027581"/>
            <a:ext cx="2080591" cy="369332"/>
          </a:xfrm>
          <a:prstGeom prst="rect">
            <a:avLst/>
          </a:prstGeom>
          <a:noFill/>
        </p:spPr>
        <p:txBody>
          <a:bodyPr wrap="square" rtlCol="0">
            <a:spAutoFit/>
          </a:bodyPr>
          <a:lstStyle/>
          <a:p>
            <a:r>
              <a:rPr lang="en-US" b="1" dirty="0"/>
              <a:t>DATA SOURCE</a:t>
            </a:r>
            <a:endParaRPr lang="en-IN" b="1" dirty="0"/>
          </a:p>
        </p:txBody>
      </p:sp>
      <p:sp>
        <p:nvSpPr>
          <p:cNvPr id="8" name="TextBox 7">
            <a:extLst>
              <a:ext uri="{FF2B5EF4-FFF2-40B4-BE49-F238E27FC236}">
                <a16:creationId xmlns:a16="http://schemas.microsoft.com/office/drawing/2014/main" id="{97BFFB25-C443-6750-0151-B5FB62C6ACBC}"/>
              </a:ext>
            </a:extLst>
          </p:cNvPr>
          <p:cNvSpPr txBox="1"/>
          <p:nvPr/>
        </p:nvSpPr>
        <p:spPr>
          <a:xfrm>
            <a:off x="5002695" y="2981712"/>
            <a:ext cx="2186608" cy="646331"/>
          </a:xfrm>
          <a:prstGeom prst="rect">
            <a:avLst/>
          </a:prstGeom>
          <a:noFill/>
        </p:spPr>
        <p:txBody>
          <a:bodyPr wrap="square" rtlCol="0">
            <a:spAutoFit/>
          </a:bodyPr>
          <a:lstStyle/>
          <a:p>
            <a:pPr algn="ctr"/>
            <a:r>
              <a:rPr lang="en-US" b="1" dirty="0"/>
              <a:t>DATA PREPROCESSING</a:t>
            </a:r>
            <a:endParaRPr lang="en-IN" b="1" dirty="0"/>
          </a:p>
        </p:txBody>
      </p:sp>
      <p:sp>
        <p:nvSpPr>
          <p:cNvPr id="9" name="TextBox 8">
            <a:extLst>
              <a:ext uri="{FF2B5EF4-FFF2-40B4-BE49-F238E27FC236}">
                <a16:creationId xmlns:a16="http://schemas.microsoft.com/office/drawing/2014/main" id="{A087D596-65EC-0EA4-0D97-94FFEAEB7B5F}"/>
              </a:ext>
            </a:extLst>
          </p:cNvPr>
          <p:cNvSpPr txBox="1"/>
          <p:nvPr/>
        </p:nvSpPr>
        <p:spPr>
          <a:xfrm>
            <a:off x="5307495" y="4212842"/>
            <a:ext cx="2186608" cy="369332"/>
          </a:xfrm>
          <a:prstGeom prst="rect">
            <a:avLst/>
          </a:prstGeom>
          <a:noFill/>
        </p:spPr>
        <p:txBody>
          <a:bodyPr wrap="square" rtlCol="0">
            <a:spAutoFit/>
          </a:bodyPr>
          <a:lstStyle/>
          <a:p>
            <a:r>
              <a:rPr lang="en-US" b="1" dirty="0"/>
              <a:t>AI MODEL</a:t>
            </a:r>
            <a:endParaRPr lang="en-IN" b="1" dirty="0"/>
          </a:p>
        </p:txBody>
      </p:sp>
      <p:sp>
        <p:nvSpPr>
          <p:cNvPr id="10" name="TextBox 9">
            <a:extLst>
              <a:ext uri="{FF2B5EF4-FFF2-40B4-BE49-F238E27FC236}">
                <a16:creationId xmlns:a16="http://schemas.microsoft.com/office/drawing/2014/main" id="{D4813882-0747-66D5-78DD-706656F2CB5F}"/>
              </a:ext>
            </a:extLst>
          </p:cNvPr>
          <p:cNvSpPr txBox="1"/>
          <p:nvPr/>
        </p:nvSpPr>
        <p:spPr>
          <a:xfrm>
            <a:off x="5002695" y="5138053"/>
            <a:ext cx="2186608" cy="646331"/>
          </a:xfrm>
          <a:prstGeom prst="rect">
            <a:avLst/>
          </a:prstGeom>
          <a:noFill/>
        </p:spPr>
        <p:txBody>
          <a:bodyPr wrap="square" rtlCol="0">
            <a:spAutoFit/>
          </a:bodyPr>
          <a:lstStyle/>
          <a:p>
            <a:pPr algn="ctr"/>
            <a:r>
              <a:rPr lang="en-US" b="1" dirty="0"/>
              <a:t>USER INTERFACE</a:t>
            </a:r>
            <a:endParaRPr lang="en-IN" b="1" dirty="0"/>
          </a:p>
        </p:txBody>
      </p:sp>
    </p:spTree>
    <p:extLst>
      <p:ext uri="{BB962C8B-B14F-4D97-AF65-F5344CB8AC3E}">
        <p14:creationId xmlns:p14="http://schemas.microsoft.com/office/powerpoint/2010/main" val="1451671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1813E2-CED9-16FE-E5F0-57E39FCC7554}"/>
              </a:ext>
            </a:extLst>
          </p:cNvPr>
          <p:cNvSpPr txBox="1"/>
          <p:nvPr/>
        </p:nvSpPr>
        <p:spPr>
          <a:xfrm>
            <a:off x="2663686" y="898984"/>
            <a:ext cx="686462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SYSTEM ARCHITECTURE</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A37878E-6C79-2E07-ABA8-2E00C1CF0C85}"/>
              </a:ext>
            </a:extLst>
          </p:cNvPr>
          <p:cNvSpPr txBox="1"/>
          <p:nvPr/>
        </p:nvSpPr>
        <p:spPr>
          <a:xfrm>
            <a:off x="1484243" y="1809162"/>
            <a:ext cx="9223513" cy="3888244"/>
          </a:xfrm>
          <a:prstGeom prst="rect">
            <a:avLst/>
          </a:prstGeom>
          <a:noFill/>
        </p:spPr>
        <p:txBody>
          <a:bodyPr wrap="square" rtlCol="0">
            <a:spAutoFit/>
          </a:bodyPr>
          <a:lstStyle/>
          <a:p>
            <a:pPr algn="just">
              <a:spcAft>
                <a:spcPts val="800"/>
              </a:spcAft>
            </a:pPr>
            <a:r>
              <a:rPr lang="en-IN" sz="2000" b="1" kern="100" dirty="0">
                <a:effectLst/>
                <a:latin typeface="Arial" panose="020B0604020202020204" pitchFamily="34" charset="0"/>
                <a:ea typeface="Calibri" panose="020F0502020204030204" pitchFamily="34" charset="0"/>
                <a:cs typeface="Arial" panose="020B0604020202020204" pitchFamily="34" charset="0"/>
              </a:rPr>
              <a:t>Data Sources:</a:t>
            </a:r>
            <a:r>
              <a:rPr lang="en-IN" sz="2000" kern="100" dirty="0">
                <a:effectLst/>
                <a:latin typeface="Arial" panose="020B0604020202020204" pitchFamily="34" charset="0"/>
                <a:ea typeface="Calibri" panose="020F0502020204030204" pitchFamily="34" charset="0"/>
                <a:cs typeface="Arial" panose="020B0604020202020204" pitchFamily="34" charset="0"/>
              </a:rPr>
              <a:t> This is where the system collects data from various sources, such as medical records, lifestyle data, and patient demographics.</a:t>
            </a:r>
          </a:p>
          <a:p>
            <a:pPr algn="just">
              <a:spcAft>
                <a:spcPts val="800"/>
              </a:spcAft>
            </a:pPr>
            <a:r>
              <a:rPr lang="en-IN" sz="2000" b="1" kern="100" dirty="0">
                <a:effectLst/>
                <a:latin typeface="Arial" panose="020B0604020202020204" pitchFamily="34" charset="0"/>
                <a:ea typeface="Calibri" panose="020F0502020204030204" pitchFamily="34" charset="0"/>
                <a:cs typeface="Arial" panose="020B0604020202020204" pitchFamily="34" charset="0"/>
              </a:rPr>
              <a:t>Data Preprocessing:</a:t>
            </a:r>
            <a:r>
              <a:rPr lang="en-IN" sz="2000" kern="100" dirty="0">
                <a:effectLst/>
                <a:latin typeface="Arial" panose="020B0604020202020204" pitchFamily="34" charset="0"/>
                <a:ea typeface="Calibri" panose="020F0502020204030204" pitchFamily="34" charset="0"/>
                <a:cs typeface="Arial" panose="020B0604020202020204" pitchFamily="34" charset="0"/>
              </a:rPr>
              <a:t> Data preprocessing involves cleaning the data, selecting relevant features, and scaling them to make them suitable for the AI model.</a:t>
            </a:r>
          </a:p>
          <a:p>
            <a:pPr algn="just">
              <a:spcAft>
                <a:spcPts val="800"/>
              </a:spcAft>
            </a:pPr>
            <a:r>
              <a:rPr lang="en-IN" sz="2000" b="1" kern="100" dirty="0">
                <a:effectLst/>
                <a:latin typeface="Arial" panose="020B0604020202020204" pitchFamily="34" charset="0"/>
                <a:ea typeface="Calibri" panose="020F0502020204030204" pitchFamily="34" charset="0"/>
                <a:cs typeface="Arial" panose="020B0604020202020204" pitchFamily="34" charset="0"/>
              </a:rPr>
              <a:t>AI Model: </a:t>
            </a:r>
            <a:r>
              <a:rPr lang="en-IN" sz="2000" kern="100" dirty="0">
                <a:effectLst/>
                <a:latin typeface="Arial" panose="020B0604020202020204" pitchFamily="34" charset="0"/>
                <a:ea typeface="Calibri" panose="020F0502020204030204" pitchFamily="34" charset="0"/>
                <a:cs typeface="Arial" panose="020B0604020202020204" pitchFamily="34" charset="0"/>
              </a:rPr>
              <a:t>The AI model consists of machine learning algorithms that </a:t>
            </a:r>
            <a:r>
              <a:rPr lang="en-IN" sz="2000" kern="100" dirty="0" err="1">
                <a:effectLst/>
                <a:latin typeface="Arial" panose="020B0604020202020204" pitchFamily="34" charset="0"/>
                <a:ea typeface="Calibri" panose="020F0502020204030204" pitchFamily="34" charset="0"/>
                <a:cs typeface="Arial" panose="020B0604020202020204" pitchFamily="34" charset="0"/>
              </a:rPr>
              <a:t>analyze</a:t>
            </a:r>
            <a:r>
              <a:rPr lang="en-IN" sz="2000" kern="100" dirty="0">
                <a:effectLst/>
                <a:latin typeface="Arial" panose="020B0604020202020204" pitchFamily="34" charset="0"/>
                <a:ea typeface="Calibri" panose="020F0502020204030204" pitchFamily="34" charset="0"/>
                <a:cs typeface="Arial" panose="020B0604020202020204" pitchFamily="34" charset="0"/>
              </a:rPr>
              <a:t> the </a:t>
            </a:r>
            <a:r>
              <a:rPr lang="en-IN" sz="2000" kern="100" dirty="0" err="1">
                <a:effectLst/>
                <a:latin typeface="Arial" panose="020B0604020202020204" pitchFamily="34" charset="0"/>
                <a:ea typeface="Calibri" panose="020F0502020204030204" pitchFamily="34" charset="0"/>
                <a:cs typeface="Arial" panose="020B0604020202020204" pitchFamily="34" charset="0"/>
              </a:rPr>
              <a:t>preprocessed</a:t>
            </a:r>
            <a:r>
              <a:rPr lang="en-IN" sz="2000" kern="100" dirty="0">
                <a:effectLst/>
                <a:latin typeface="Arial" panose="020B0604020202020204" pitchFamily="34" charset="0"/>
                <a:ea typeface="Calibri" panose="020F0502020204030204" pitchFamily="34" charset="0"/>
                <a:cs typeface="Arial" panose="020B0604020202020204" pitchFamily="34" charset="0"/>
              </a:rPr>
              <a:t> data to make predictions about diabetes risk.</a:t>
            </a:r>
          </a:p>
          <a:p>
            <a:pPr algn="just">
              <a:spcAft>
                <a:spcPts val="800"/>
              </a:spcAft>
            </a:pPr>
            <a:r>
              <a:rPr lang="en-IN" sz="2000" b="1" kern="100" dirty="0">
                <a:effectLst/>
                <a:latin typeface="Arial" panose="020B0604020202020204" pitchFamily="34" charset="0"/>
                <a:ea typeface="Calibri" panose="020F0502020204030204" pitchFamily="34" charset="0"/>
                <a:cs typeface="Arial" panose="020B0604020202020204" pitchFamily="34" charset="0"/>
              </a:rPr>
              <a:t>User Interface: </a:t>
            </a:r>
            <a:r>
              <a:rPr lang="en-IN" sz="2000" kern="100" dirty="0">
                <a:effectLst/>
                <a:latin typeface="Arial" panose="020B0604020202020204" pitchFamily="34" charset="0"/>
                <a:ea typeface="Calibri" panose="020F0502020204030204" pitchFamily="34" charset="0"/>
                <a:cs typeface="Arial" panose="020B0604020202020204" pitchFamily="34" charset="0"/>
              </a:rPr>
              <a:t>The user interface allows users (patients or healthcare providers) to input relevant data and view the predictions generated by the AI model.</a:t>
            </a:r>
          </a:p>
          <a:p>
            <a:pPr algn="just">
              <a:spcAft>
                <a:spcPts val="800"/>
              </a:spcAft>
            </a:pPr>
            <a:r>
              <a:rPr lang="en-IN" sz="2000" kern="100" dirty="0">
                <a:effectLst/>
                <a:latin typeface="Arial" panose="020B0604020202020204" pitchFamily="34" charset="0"/>
                <a:ea typeface="Calibri" panose="020F0502020204030204" pitchFamily="34" charset="0"/>
                <a:cs typeface="Arial" panose="020B0604020202020204" pitchFamily="34" charset="0"/>
              </a:rPr>
              <a:t>These components work together to create an end-to-end system for diabetes prediction.</a:t>
            </a:r>
          </a:p>
        </p:txBody>
      </p:sp>
    </p:spTree>
    <p:extLst>
      <p:ext uri="{BB962C8B-B14F-4D97-AF65-F5344CB8AC3E}">
        <p14:creationId xmlns:p14="http://schemas.microsoft.com/office/powerpoint/2010/main" val="241191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80B795-D0D5-D226-9EE8-F8C274BA5162}"/>
              </a:ext>
            </a:extLst>
          </p:cNvPr>
          <p:cNvSpPr txBox="1"/>
          <p:nvPr/>
        </p:nvSpPr>
        <p:spPr>
          <a:xfrm>
            <a:off x="3657600" y="1484244"/>
            <a:ext cx="487680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CONCLUSION</a:t>
            </a:r>
            <a:endParaRPr lang="en-IN" sz="28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51ACDC9-D94A-4336-5FC2-2A842DB0AE7F}"/>
              </a:ext>
            </a:extLst>
          </p:cNvPr>
          <p:cNvSpPr txBox="1"/>
          <p:nvPr/>
        </p:nvSpPr>
        <p:spPr>
          <a:xfrm>
            <a:off x="1626705" y="2661475"/>
            <a:ext cx="8938590" cy="2712281"/>
          </a:xfrm>
          <a:prstGeom prst="rect">
            <a:avLst/>
          </a:prstGeom>
          <a:noFill/>
        </p:spPr>
        <p:txBody>
          <a:bodyPr wrap="square" rtlCol="0">
            <a:spAutoFit/>
          </a:bodyPr>
          <a:lstStyle/>
          <a:p>
            <a:pPr algn="just">
              <a:lnSpc>
                <a:spcPct val="107000"/>
              </a:lnSpc>
              <a:spcAft>
                <a:spcPts val="800"/>
              </a:spcAft>
            </a:pPr>
            <a:r>
              <a:rPr lang="en-IN" sz="2000" kern="100" dirty="0">
                <a:latin typeface="Calibri" panose="020F0502020204030204" pitchFamily="34" charset="0"/>
                <a:ea typeface="Calibri" panose="020F0502020204030204" pitchFamily="34" charset="0"/>
                <a:cs typeface="Times New Roman" panose="02020603050405020304" pitchFamily="18" charset="0"/>
              </a:rPr>
              <a:t>			T</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he AI-based </a:t>
            </a:r>
            <a:r>
              <a:rPr lang="en-IN" sz="2000" kern="100" dirty="0">
                <a:effectLst/>
                <a:latin typeface="Arial" panose="020B0604020202020204" pitchFamily="34" charset="0"/>
                <a:ea typeface="Calibri" panose="020F0502020204030204" pitchFamily="34" charset="0"/>
                <a:cs typeface="Arial" panose="020B0604020202020204" pitchFamily="34" charset="0"/>
              </a:rPr>
              <a:t>diabetes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prediction system is a proactive solution to the problem of late diabetes diagnosis. By applying a design thinking approach, we have developed a system that leverages advanced AI techniques to predict diabetes risk early, enabling timely interventions and personalized healthcare. This system has the potential to improve the lives of individuals at risk of diabetes and enhance the efficiency of healthcare delivery. Early diagnosis is the key to better managing diabetes and reducing its long-term complications, and our AI system is a step forward in achieving this goal.</a:t>
            </a:r>
          </a:p>
        </p:txBody>
      </p:sp>
    </p:spTree>
    <p:extLst>
      <p:ext uri="{BB962C8B-B14F-4D97-AF65-F5344CB8AC3E}">
        <p14:creationId xmlns:p14="http://schemas.microsoft.com/office/powerpoint/2010/main" val="349428983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88</TotalTime>
  <Words>874</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Calibri</vt:lpstr>
      <vt:lpstr>Garamond</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 S</dc:creator>
  <cp:lastModifiedBy>Ajay S</cp:lastModifiedBy>
  <cp:revision>3</cp:revision>
  <dcterms:created xsi:type="dcterms:W3CDTF">2023-09-27T06:24:53Z</dcterms:created>
  <dcterms:modified xsi:type="dcterms:W3CDTF">2023-09-27T14:20:29Z</dcterms:modified>
</cp:coreProperties>
</file>